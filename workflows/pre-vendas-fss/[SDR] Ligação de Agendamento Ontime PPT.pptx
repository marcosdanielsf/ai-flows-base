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 Black"/>
      <p:bold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Black-boldItalic.fntdata"/><Relationship Id="rId14" Type="http://schemas.openxmlformats.org/officeDocument/2006/relationships/font" Target="fonts/MontserratBlack-bold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a25f65e03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a25f65e03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022452114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022452114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7e46cb7e8_4_37:notes"/>
          <p:cNvSpPr/>
          <p:nvPr>
            <p:ph idx="2" type="sldImg"/>
          </p:nvPr>
        </p:nvSpPr>
        <p:spPr>
          <a:xfrm>
            <a:off x="38128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f7e46cb7e8_4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022452114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022452114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ad5d24b40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ad5d24b40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ad5d24b40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ad5d24b40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a6e7054dc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a6e7054dc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022452114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022452114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925" y="5064050"/>
            <a:ext cx="5610148" cy="79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3"/>
          <p:cNvCxnSpPr/>
          <p:nvPr/>
        </p:nvCxnSpPr>
        <p:spPr>
          <a:xfrm>
            <a:off x="5259725" y="1662900"/>
            <a:ext cx="0" cy="1512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" name="Google Shape;56;p13"/>
          <p:cNvSpPr txBox="1"/>
          <p:nvPr/>
        </p:nvSpPr>
        <p:spPr>
          <a:xfrm>
            <a:off x="5970825" y="2188500"/>
            <a:ext cx="171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666666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SDR</a:t>
            </a:r>
            <a:r>
              <a:rPr lang="pt-BR"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- ELITE</a:t>
            </a:r>
            <a:endParaRPr b="1" sz="1800">
              <a:solidFill>
                <a:srgbClr val="E0BA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740075" y="1743150"/>
            <a:ext cx="3836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rgbClr val="E0BA6F"/>
                </a:solidFill>
                <a:latin typeface="Montserrat"/>
                <a:ea typeface="Montserrat"/>
                <a:cs typeface="Montserrat"/>
                <a:sym typeface="Montserrat"/>
              </a:rPr>
              <a:t>LIGAÇÃO DE AGENDAMENTO ONTIME</a:t>
            </a:r>
            <a:endParaRPr sz="2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13850" y="1036450"/>
            <a:ext cx="4836900" cy="18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- Horário da Ligação</a:t>
            </a:r>
            <a:br>
              <a:rPr b="1" lang="pt-BR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17:45h a 19h</a:t>
            </a:r>
            <a:endParaRPr b="1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4 tentativas - </a:t>
            </a:r>
            <a:r>
              <a:rPr lang="pt-BR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3 seguidas e </a:t>
            </a:r>
            <a:r>
              <a:rPr lang="pt-BR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1 espaçada</a:t>
            </a:r>
            <a:br>
              <a:rPr lang="pt-BR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pt-BR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20 contatos min. - 10 atendem</a:t>
            </a:r>
            <a:br>
              <a:rPr lang="pt-BR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meta 3 a 4 agendamentos</a:t>
            </a:r>
            <a:endParaRPr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1276663" y="3466157"/>
            <a:ext cx="1866300" cy="932700"/>
          </a:xfrm>
          <a:prstGeom prst="roundRect">
            <a:avLst>
              <a:gd fmla="val 16667" name="adj"/>
            </a:avLst>
          </a:prstGeom>
          <a:solidFill>
            <a:srgbClr val="E0BA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LIGAÇÃO de Agendamento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094537" y="3334610"/>
            <a:ext cx="1866300" cy="11958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Agendamento ON time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" name="Google Shape;65;p14"/>
          <p:cNvCxnSpPr>
            <a:stCxn id="63" idx="3"/>
            <a:endCxn id="64" idx="1"/>
          </p:cNvCxnSpPr>
          <p:nvPr/>
        </p:nvCxnSpPr>
        <p:spPr>
          <a:xfrm>
            <a:off x="3142963" y="3932507"/>
            <a:ext cx="2951700" cy="0"/>
          </a:xfrm>
          <a:prstGeom prst="straightConnector1">
            <a:avLst/>
          </a:prstGeom>
          <a:noFill/>
          <a:ln cap="flat" cmpd="sng" w="12700">
            <a:solidFill>
              <a:srgbClr val="E0BA6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" name="Google Shape;66;p14"/>
          <p:cNvSpPr txBox="1"/>
          <p:nvPr/>
        </p:nvSpPr>
        <p:spPr>
          <a:xfrm>
            <a:off x="669500" y="409325"/>
            <a:ext cx="702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LIGAÇÃO DE AGENDAMENTO </a:t>
            </a:r>
            <a:r>
              <a:rPr b="1" lang="pt-BR" sz="1800">
                <a:solidFill>
                  <a:srgbClr val="E0BA6F"/>
                </a:solidFill>
                <a:latin typeface="Montserrat"/>
                <a:ea typeface="Montserrat"/>
                <a:cs typeface="Montserrat"/>
                <a:sym typeface="Montserrat"/>
              </a:rPr>
              <a:t>ONTIME</a:t>
            </a:r>
            <a:endParaRPr b="1" sz="1800">
              <a:solidFill>
                <a:srgbClr val="E0BA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538" y="0"/>
            <a:ext cx="3385073" cy="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05626" y="628948"/>
            <a:ext cx="495898" cy="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3828825" y="3523225"/>
            <a:ext cx="152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15 min a 1:30 h </a:t>
            </a:r>
            <a:endParaRPr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1037623" y="4581800"/>
            <a:ext cx="2234400" cy="383100"/>
          </a:xfrm>
          <a:prstGeom prst="rect">
            <a:avLst/>
          </a:prstGeom>
          <a:noFill/>
          <a:ln cap="flat" cmpd="sng" w="25400">
            <a:solidFill>
              <a:srgbClr val="E0BA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5"/>
          <p:cNvCxnSpPr/>
          <p:nvPr/>
        </p:nvCxnSpPr>
        <p:spPr>
          <a:xfrm>
            <a:off x="440900" y="2502175"/>
            <a:ext cx="3608700" cy="7500"/>
          </a:xfrm>
          <a:prstGeom prst="straightConnector1">
            <a:avLst/>
          </a:prstGeom>
          <a:noFill/>
          <a:ln cap="flat" cmpd="sng" w="19050">
            <a:solidFill>
              <a:srgbClr val="E0BA6F"/>
            </a:solidFill>
            <a:prstDash val="lgDashDot"/>
            <a:round/>
            <a:headEnd len="sm" w="sm" type="none"/>
            <a:tailEnd len="sm" w="sm" type="none"/>
          </a:ln>
        </p:spPr>
      </p:cxnSp>
      <p:cxnSp>
        <p:nvCxnSpPr>
          <p:cNvPr id="76" name="Google Shape;76;p15"/>
          <p:cNvCxnSpPr/>
          <p:nvPr/>
        </p:nvCxnSpPr>
        <p:spPr>
          <a:xfrm>
            <a:off x="440900" y="1743738"/>
            <a:ext cx="3608700" cy="7500"/>
          </a:xfrm>
          <a:prstGeom prst="straightConnector1">
            <a:avLst/>
          </a:prstGeom>
          <a:noFill/>
          <a:ln cap="flat" cmpd="sng" w="19050">
            <a:solidFill>
              <a:srgbClr val="E0BA6F"/>
            </a:solidFill>
            <a:prstDash val="lgDashDot"/>
            <a:round/>
            <a:headEnd len="sm" w="sm" type="none"/>
            <a:tailEnd len="sm" w="sm" type="none"/>
          </a:ln>
        </p:spPr>
      </p:cxnSp>
      <p:cxnSp>
        <p:nvCxnSpPr>
          <p:cNvPr id="77" name="Google Shape;77;p15"/>
          <p:cNvCxnSpPr/>
          <p:nvPr/>
        </p:nvCxnSpPr>
        <p:spPr>
          <a:xfrm>
            <a:off x="440900" y="3422925"/>
            <a:ext cx="3608700" cy="7500"/>
          </a:xfrm>
          <a:prstGeom prst="straightConnector1">
            <a:avLst/>
          </a:prstGeom>
          <a:noFill/>
          <a:ln cap="flat" cmpd="sng" w="19050">
            <a:solidFill>
              <a:srgbClr val="E0BA6F"/>
            </a:solidFill>
            <a:prstDash val="lgDashDot"/>
            <a:round/>
            <a:headEnd len="sm" w="sm" type="none"/>
            <a:tailEnd len="sm" w="sm" type="none"/>
          </a:ln>
        </p:spPr>
      </p:cxnSp>
      <p:cxnSp>
        <p:nvCxnSpPr>
          <p:cNvPr id="78" name="Google Shape;78;p15"/>
          <p:cNvCxnSpPr/>
          <p:nvPr/>
        </p:nvCxnSpPr>
        <p:spPr>
          <a:xfrm>
            <a:off x="440900" y="1235150"/>
            <a:ext cx="3608700" cy="7500"/>
          </a:xfrm>
          <a:prstGeom prst="straightConnector1">
            <a:avLst/>
          </a:prstGeom>
          <a:noFill/>
          <a:ln cap="flat" cmpd="sng" w="19050">
            <a:solidFill>
              <a:srgbClr val="E0BA6F"/>
            </a:solidFill>
            <a:prstDash val="lgDashDot"/>
            <a:round/>
            <a:headEnd len="sm" w="sm" type="none"/>
            <a:tailEnd len="sm" w="sm" type="none"/>
          </a:ln>
        </p:spPr>
      </p:cxnSp>
      <p:sp>
        <p:nvSpPr>
          <p:cNvPr id="79" name="Google Shape;79;p15"/>
          <p:cNvSpPr txBox="1"/>
          <p:nvPr/>
        </p:nvSpPr>
        <p:spPr>
          <a:xfrm>
            <a:off x="653350" y="410700"/>
            <a:ext cx="474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ESTRUTURA DA LIGAÇÃO DE ONTIME (AGENDAMENTO DE IMPACTO)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1052000" y="1235127"/>
            <a:ext cx="2234400" cy="495900"/>
          </a:xfrm>
          <a:prstGeom prst="rect">
            <a:avLst/>
          </a:prstGeom>
          <a:noFill/>
          <a:ln cap="flat" cmpd="sng" w="25400">
            <a:solidFill>
              <a:srgbClr val="E0BA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381999" y="1314475"/>
            <a:ext cx="1523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OPENER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931550" y="404149"/>
            <a:ext cx="28677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Autoridade através da tonalidade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Animação e controle da voz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Pergunta Opener - tá lembrado? 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Sorriso no rosto e riso na fala 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1052000" y="1751625"/>
            <a:ext cx="2234400" cy="722100"/>
          </a:xfrm>
          <a:prstGeom prst="rect">
            <a:avLst/>
          </a:prstGeom>
          <a:noFill/>
          <a:ln cap="flat" cmpd="sng" w="25400">
            <a:solidFill>
              <a:srgbClr val="E0BA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1222625" y="1950629"/>
            <a:ext cx="1786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PITCH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1052000" y="2509675"/>
            <a:ext cx="2234400" cy="913200"/>
          </a:xfrm>
          <a:prstGeom prst="rect">
            <a:avLst/>
          </a:prstGeom>
          <a:noFill/>
          <a:ln cap="flat" cmpd="sng" w="25400">
            <a:solidFill>
              <a:srgbClr val="E0BA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1216400" y="2663925"/>
            <a:ext cx="18591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QUALIFICAÇÃO + RELACIONAMENTO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1052000" y="3452500"/>
            <a:ext cx="2234400" cy="337200"/>
          </a:xfrm>
          <a:prstGeom prst="rect">
            <a:avLst/>
          </a:prstGeom>
          <a:noFill/>
          <a:ln cap="flat" cmpd="sng" w="25400">
            <a:solidFill>
              <a:srgbClr val="E0BA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1186175" y="3442225"/>
            <a:ext cx="185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PRÉ FECHAMENTO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5010715" y="2240976"/>
            <a:ext cx="39888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Pacto de razão para as perguntas (direcionar o melhor o atendimento e entender seu momento) 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Deixar o lead entender que está em constante qualificação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Fazer Perguntas Qualificatórias e SPIN selling  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0" name="Google Shape;90;p15"/>
          <p:cNvCxnSpPr>
            <a:stCxn id="85" idx="3"/>
            <a:endCxn id="89" idx="1"/>
          </p:cNvCxnSpPr>
          <p:nvPr/>
        </p:nvCxnSpPr>
        <p:spPr>
          <a:xfrm flipH="1" rot="10800000">
            <a:off x="3286400" y="2563375"/>
            <a:ext cx="1724400" cy="402900"/>
          </a:xfrm>
          <a:prstGeom prst="straightConnector1">
            <a:avLst/>
          </a:prstGeom>
          <a:noFill/>
          <a:ln cap="flat" cmpd="sng" w="28575">
            <a:solidFill>
              <a:srgbClr val="FD00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5"/>
          <p:cNvCxnSpPr/>
          <p:nvPr/>
        </p:nvCxnSpPr>
        <p:spPr>
          <a:xfrm flipH="1" rot="10800000">
            <a:off x="3264450" y="934713"/>
            <a:ext cx="1596000" cy="563700"/>
          </a:xfrm>
          <a:prstGeom prst="straightConnector1">
            <a:avLst/>
          </a:prstGeom>
          <a:noFill/>
          <a:ln cap="flat" cmpd="sng" w="28575">
            <a:solidFill>
              <a:srgbClr val="FD00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5"/>
          <p:cNvSpPr txBox="1"/>
          <p:nvPr/>
        </p:nvSpPr>
        <p:spPr>
          <a:xfrm>
            <a:off x="4856969" y="1200340"/>
            <a:ext cx="38127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Quebra de objeção de tempo "estou te ligando aqui bem breve"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Lembrar da aplicação e puxar um gancho sobre ela 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Alterar a cadência da voz 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Direto ao Ponto 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Mensagem de confirmação de necessidade e solução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1063351" y="4173623"/>
            <a:ext cx="2211600" cy="383100"/>
          </a:xfrm>
          <a:prstGeom prst="rect">
            <a:avLst/>
          </a:prstGeom>
          <a:noFill/>
          <a:ln cap="flat" cmpd="sng" w="25400">
            <a:solidFill>
              <a:srgbClr val="E0BA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805856" y="4167505"/>
            <a:ext cx="2611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PERGUNTA CONFIRMAÇÃO SÓCIO</a:t>
            </a:r>
            <a:br>
              <a:rPr b="1"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5" name="Google Shape;95;p15"/>
          <p:cNvCxnSpPr>
            <a:endCxn id="96" idx="1"/>
          </p:cNvCxnSpPr>
          <p:nvPr/>
        </p:nvCxnSpPr>
        <p:spPr>
          <a:xfrm>
            <a:off x="3296525" y="3533150"/>
            <a:ext cx="1741500" cy="32100"/>
          </a:xfrm>
          <a:prstGeom prst="straightConnector1">
            <a:avLst/>
          </a:prstGeom>
          <a:noFill/>
          <a:ln cap="flat" cmpd="sng" w="28575">
            <a:solidFill>
              <a:srgbClr val="FD00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5"/>
          <p:cNvSpPr txBox="1"/>
          <p:nvPr/>
        </p:nvSpPr>
        <p:spPr>
          <a:xfrm>
            <a:off x="1251325" y="4513700"/>
            <a:ext cx="18183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FECHAMENTO E FINALIZAÇÃO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5038025" y="3204200"/>
            <a:ext cx="3934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CTA / seeding para a Call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Pergunta sobre decisor 2 : Você tem sócio? Sua esposa participa? 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Teria para Agora  - senão o agora, 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30 minutos já te dá uma clareza… "vender o benefício"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1046475" y="3793625"/>
            <a:ext cx="2234400" cy="383100"/>
          </a:xfrm>
          <a:prstGeom prst="rect">
            <a:avLst/>
          </a:prstGeom>
          <a:noFill/>
          <a:ln cap="flat" cmpd="sng" w="25400">
            <a:solidFill>
              <a:srgbClr val="E0BA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1289825" y="3810075"/>
            <a:ext cx="181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BRIGA CORPORAL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0" name="Google Shape;100;p15"/>
          <p:cNvCxnSpPr>
            <a:stCxn id="98" idx="3"/>
            <a:endCxn id="101" idx="1"/>
          </p:cNvCxnSpPr>
          <p:nvPr/>
        </p:nvCxnSpPr>
        <p:spPr>
          <a:xfrm>
            <a:off x="3280875" y="3985175"/>
            <a:ext cx="1831500" cy="427200"/>
          </a:xfrm>
          <a:prstGeom prst="straightConnector1">
            <a:avLst/>
          </a:prstGeom>
          <a:noFill/>
          <a:ln cap="flat" cmpd="sng" w="28575">
            <a:solidFill>
              <a:srgbClr val="FD00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5"/>
          <p:cNvCxnSpPr>
            <a:stCxn id="83" idx="3"/>
          </p:cNvCxnSpPr>
          <p:nvPr/>
        </p:nvCxnSpPr>
        <p:spPr>
          <a:xfrm flipH="1" rot="10800000">
            <a:off x="3286400" y="1808475"/>
            <a:ext cx="1502100" cy="304200"/>
          </a:xfrm>
          <a:prstGeom prst="straightConnector1">
            <a:avLst/>
          </a:prstGeom>
          <a:noFill/>
          <a:ln cap="flat" cmpd="sng" w="28575">
            <a:solidFill>
              <a:srgbClr val="FD00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5"/>
          <p:cNvSpPr txBox="1"/>
          <p:nvPr/>
        </p:nvSpPr>
        <p:spPr>
          <a:xfrm>
            <a:off x="5112299" y="4051275"/>
            <a:ext cx="2506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Reverter dispensas  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Reverter as objeções 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4394922" y="4504808"/>
            <a:ext cx="3404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Parabenizar com muita animação (fazer uma festa) </a:t>
            </a:r>
            <a:b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Procedimento do Invite - confirmação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4" name="Google Shape;104;p15"/>
          <p:cNvCxnSpPr>
            <a:stCxn id="74" idx="3"/>
            <a:endCxn id="103" idx="1"/>
          </p:cNvCxnSpPr>
          <p:nvPr/>
        </p:nvCxnSpPr>
        <p:spPr>
          <a:xfrm>
            <a:off x="3272023" y="4773350"/>
            <a:ext cx="1122900" cy="92400"/>
          </a:xfrm>
          <a:prstGeom prst="straightConnector1">
            <a:avLst/>
          </a:prstGeom>
          <a:noFill/>
          <a:ln cap="flat" cmpd="sng" w="28575">
            <a:solidFill>
              <a:srgbClr val="FD001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771225" y="1053250"/>
            <a:ext cx="74577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Auto imagem de poder e autoridade </a:t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Melhor técnica de vendas é a presuntiva (presumir que o  cliente vai agendar) </a:t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Fale infinitas vezes antes do cliente atender, na sua cabeça ou baixinho, “eu vou agendar, eu vou agendar, eu vou agendar"</a:t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Alta energia: Energia lá em cima quando o cliente atender</a:t>
            </a:r>
            <a:b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Não aceite um não como resposta - e ESPERE que o cliente vai dizer não para você </a:t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25" y="4833077"/>
            <a:ext cx="1057551" cy="1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8029450" y="4744900"/>
            <a:ext cx="100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HUNTER</a:t>
            </a:r>
            <a:r>
              <a:rPr b="1" lang="pt-BR" sz="1000">
                <a:solidFill>
                  <a:srgbClr val="E0BA6F"/>
                </a:solidFill>
                <a:latin typeface="Montserrat"/>
                <a:ea typeface="Montserrat"/>
                <a:cs typeface="Montserrat"/>
                <a:sym typeface="Montserrat"/>
              </a:rPr>
              <a:t>10K</a:t>
            </a:r>
            <a:endParaRPr b="1" sz="1000">
              <a:solidFill>
                <a:srgbClr val="E0BA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7538" y="0"/>
            <a:ext cx="3385073" cy="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305626" y="628948"/>
            <a:ext cx="495898" cy="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669500" y="409325"/>
            <a:ext cx="702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DRIVE MENTAL PRÉ - </a:t>
            </a:r>
            <a:r>
              <a:rPr b="1" lang="pt-BR" sz="1800">
                <a:solidFill>
                  <a:srgbClr val="E0BA6F"/>
                </a:solidFill>
                <a:latin typeface="Montserrat"/>
                <a:ea typeface="Montserrat"/>
                <a:cs typeface="Montserrat"/>
                <a:sym typeface="Montserrat"/>
              </a:rPr>
              <a:t>LIGAÇÃO</a:t>
            </a:r>
            <a:endParaRPr b="1" sz="1800">
              <a:solidFill>
                <a:srgbClr val="E0BA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706200" y="1178775"/>
            <a:ext cx="7731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Seja cara de pau</a:t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Fuja da formalidade </a:t>
            </a:r>
            <a:b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Confronte seu cliente com "tapa de luva" - </a:t>
            </a: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"qual foi a última vez que parou para falar de viagens e férias com a sua esposa?" "e que casamento é esse que não tem um sonho no meio?"</a:t>
            </a:r>
            <a:b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Coloque escassez e não facilite a vida do seu cliente</a:t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Guie ele até o compromisso</a:t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25" y="4833077"/>
            <a:ext cx="1057551" cy="1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8029450" y="4744900"/>
            <a:ext cx="100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HUNTER</a:t>
            </a:r>
            <a:r>
              <a:rPr b="1" lang="pt-BR" sz="1000">
                <a:solidFill>
                  <a:srgbClr val="E0BA6F"/>
                </a:solidFill>
                <a:latin typeface="Montserrat"/>
                <a:ea typeface="Montserrat"/>
                <a:cs typeface="Montserrat"/>
                <a:sym typeface="Montserrat"/>
              </a:rPr>
              <a:t>10K</a:t>
            </a:r>
            <a:endParaRPr b="1" sz="1000">
              <a:solidFill>
                <a:srgbClr val="E0BA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7538" y="0"/>
            <a:ext cx="3385073" cy="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305626" y="628948"/>
            <a:ext cx="495898" cy="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669500" y="409325"/>
            <a:ext cx="702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DURANTE A LIGAÇÃO </a:t>
            </a:r>
            <a:endParaRPr b="1" sz="1800">
              <a:solidFill>
                <a:srgbClr val="E0BA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/>
        </p:nvSpPr>
        <p:spPr>
          <a:xfrm>
            <a:off x="771225" y="1053263"/>
            <a:ext cx="7457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 cliente sim podia falar na hora que você ligou </a:t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 cliente sim podia agendar no dia</a:t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 cliente não entendeu como prioridade</a:t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"preguiça inértica" do cliente não foi vencida</a:t>
            </a:r>
            <a:b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Montserrat"/>
              <a:buChar char="●"/>
            </a:pPr>
            <a:r>
              <a:rPr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Em geral, se você quebrou as objeções e conquistou o agendamento do cliente, ele já chega com SPIN para a call! </a:t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25" y="4833077"/>
            <a:ext cx="1057551" cy="1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8029450" y="4744900"/>
            <a:ext cx="100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HUNTER</a:t>
            </a:r>
            <a:r>
              <a:rPr b="1" lang="pt-BR" sz="1000">
                <a:solidFill>
                  <a:srgbClr val="E0BA6F"/>
                </a:solidFill>
                <a:latin typeface="Montserrat"/>
                <a:ea typeface="Montserrat"/>
                <a:cs typeface="Montserrat"/>
                <a:sym typeface="Montserrat"/>
              </a:rPr>
              <a:t>10K</a:t>
            </a:r>
            <a:endParaRPr b="1" sz="1000">
              <a:solidFill>
                <a:srgbClr val="E0BA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7538" y="0"/>
            <a:ext cx="3385073" cy="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305626" y="628948"/>
            <a:ext cx="495898" cy="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669500" y="409325"/>
            <a:ext cx="794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NÃO TERCEIRIZE A RESPONSABILIDADE PARA O CLIENTE! </a:t>
            </a:r>
            <a:endParaRPr b="1" sz="1800">
              <a:solidFill>
                <a:srgbClr val="E0BA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653350" y="410688"/>
            <a:ext cx="739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E0BA6F"/>
                </a:solidFill>
                <a:latin typeface="Montserrat"/>
                <a:ea typeface="Montserrat"/>
                <a:cs typeface="Montserrat"/>
                <a:sym typeface="Montserrat"/>
              </a:rPr>
              <a:t>SE PREPARA E TREINE </a:t>
            </a:r>
            <a:r>
              <a:rPr b="1" lang="pt-BR"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PARA AS OBJEÇÕES! </a:t>
            </a:r>
            <a:endParaRPr sz="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25" y="4833077"/>
            <a:ext cx="1057551" cy="1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8029450" y="4744900"/>
            <a:ext cx="100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HUNTER</a:t>
            </a:r>
            <a:r>
              <a:rPr b="1" lang="pt-BR" sz="1000">
                <a:solidFill>
                  <a:srgbClr val="E0BA6F"/>
                </a:solidFill>
                <a:latin typeface="Montserrat"/>
                <a:ea typeface="Montserrat"/>
                <a:cs typeface="Montserrat"/>
                <a:sym typeface="Montserrat"/>
              </a:rPr>
              <a:t>10K</a:t>
            </a:r>
            <a:endParaRPr b="1" sz="1000">
              <a:solidFill>
                <a:srgbClr val="E0BA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2" name="Google Shape;14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7538" y="0"/>
            <a:ext cx="3385073" cy="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305626" y="628948"/>
            <a:ext cx="495898" cy="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/>
          <p:nvPr/>
        </p:nvSpPr>
        <p:spPr>
          <a:xfrm>
            <a:off x="513850" y="1859875"/>
            <a:ext cx="5210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Como treinar para objeções e dispensas: </a:t>
            </a:r>
            <a:endParaRPr b="1" sz="1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b="1" sz="18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Montserrat"/>
              <a:buChar char="●"/>
            </a:pPr>
            <a:r>
              <a:rPr b="1" lang="pt-BR"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Mapeie-as e estude-as</a:t>
            </a:r>
            <a:endParaRPr b="1" sz="16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Montserrat"/>
              <a:buChar char="●"/>
            </a:pPr>
            <a:r>
              <a:rPr b="1" lang="pt-BR"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Crie uma script para cada objeção</a:t>
            </a:r>
            <a:endParaRPr b="1" sz="16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Montserrat"/>
              <a:buChar char="●"/>
            </a:pPr>
            <a:r>
              <a:rPr b="1" lang="pt-BR"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Treine no espelho</a:t>
            </a:r>
            <a:endParaRPr b="1" sz="16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Montserrat"/>
              <a:buChar char="●"/>
            </a:pPr>
            <a:r>
              <a:rPr b="1" lang="pt-BR" sz="1600" u="sng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Pratique com o cliente</a:t>
            </a:r>
            <a:endParaRPr b="1" sz="1600" u="sng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pt-BR" sz="16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800">
              <a:solidFill>
                <a:srgbClr val="E0BA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6261025" y="2037700"/>
            <a:ext cx="3334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Objeção é oportunidade! </a:t>
            </a:r>
            <a:br>
              <a:rPr b="1" lang="pt-BR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pt-BR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pt-BR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Objeção quebrada é benção!</a:t>
            </a:r>
            <a:endParaRPr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25" y="4833077"/>
            <a:ext cx="1057551" cy="1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 txBox="1"/>
          <p:nvPr/>
        </p:nvSpPr>
        <p:spPr>
          <a:xfrm>
            <a:off x="8029450" y="4744900"/>
            <a:ext cx="100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HUNTER</a:t>
            </a:r>
            <a:r>
              <a:rPr b="1" lang="pt-BR" sz="1000">
                <a:solidFill>
                  <a:srgbClr val="E0BA6F"/>
                </a:solidFill>
                <a:latin typeface="Montserrat"/>
                <a:ea typeface="Montserrat"/>
                <a:cs typeface="Montserrat"/>
                <a:sym typeface="Montserrat"/>
              </a:rPr>
              <a:t>10K</a:t>
            </a:r>
            <a:endParaRPr b="1" sz="1000">
              <a:solidFill>
                <a:srgbClr val="E0BA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2" name="Google Shape;15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7538" y="0"/>
            <a:ext cx="3385073" cy="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/>
          <p:nvPr/>
        </p:nvSpPr>
        <p:spPr>
          <a:xfrm>
            <a:off x="990800" y="1934725"/>
            <a:ext cx="7399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"A</a:t>
            </a:r>
            <a:r>
              <a:rPr b="1" lang="pt-BR" sz="24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PRENDA ESSA ARTE DE "CONQUISTAR AGENDAMENTO" e SUBA SEU VALOR COMO PROFISSIONAL</a:t>
            </a:r>
            <a:endParaRPr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4" name="Google Shape;15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3224" y="1240773"/>
            <a:ext cx="1057550" cy="57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